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BE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AC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9AA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889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778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667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556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0445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03344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002233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001122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USA</c:v>
                  </c:pt>
                  <c:pt idx="1">
                    <c:v>Singapore</c:v>
                  </c:pt>
                  <c:pt idx="2">
                    <c:v>Australia</c:v>
                  </c:pt>
                  <c:pt idx="3">
                    <c:v>Canada</c:v>
                  </c:pt>
                  <c:pt idx="4">
                    <c:v>UK</c:v>
                  </c:pt>
                  <c:pt idx="5">
                    <c:v>Netherlands</c:v>
                  </c:pt>
                  <c:pt idx="6">
                    <c:v>Germany</c:v>
                  </c:pt>
                  <c:pt idx="7">
                    <c:v>Japan</c:v>
                  </c:pt>
                  <c:pt idx="8">
                    <c:v>France</c:v>
                  </c:pt>
                  <c:pt idx="9">
                    <c:v>UAE</c:v>
                  </c:pt>
                  <c:pt idx="10">
                    <c:v>Brazil</c:v>
                  </c:pt>
                  <c:pt idx="11">
                    <c:v>India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132995</c:v>
                </c:pt>
                <c:pt idx="1">
                  <c:v>116955</c:v>
                </c:pt>
                <c:pt idx="2">
                  <c:v>110550</c:v>
                </c:pt>
                <c:pt idx="3">
                  <c:v>108671</c:v>
                </c:pt>
                <c:pt idx="4">
                  <c:v>102826</c:v>
                </c:pt>
                <c:pt idx="5">
                  <c:v>102379</c:v>
                </c:pt>
                <c:pt idx="6">
                  <c:v>100008</c:v>
                </c:pt>
                <c:pt idx="7">
                  <c:v>98508</c:v>
                </c:pt>
                <c:pt idx="8">
                  <c:v>95170</c:v>
                </c:pt>
                <c:pt idx="9">
                  <c:v>93508</c:v>
                </c:pt>
                <c:pt idx="10">
                  <c:v>53705</c:v>
                </c:pt>
                <c:pt idx="11">
                  <c:v>43106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BCC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2E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7C4D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4D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AC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6C28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Entry</c:v>
                  </c:pt>
                  <c:pt idx="1">
                    <c:v>Mid</c:v>
                  </c:pt>
                  <c:pt idx="2">
                    <c:v>Senior</c:v>
                  </c:pt>
                  <c:pt idx="3">
                    <c:v>Lead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61328</c:v>
                </c:pt>
                <c:pt idx="1">
                  <c:v>77412</c:v>
                </c:pt>
                <c:pt idx="2">
                  <c:v>104608</c:v>
                </c:pt>
                <c:pt idx="3">
                  <c:v>142319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BCC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E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Work Mode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bubble3D val="0"/>
            <c:spPr>
              <a:solidFill>
                <a:srgbClr val="00D4FF"/>
              </a:solidFill>
              <a:effectLst/>
            </c:spPr>
          </c:dPt>
          <c:dPt>
            <c:idx val="2"/>
            <c:bubble3D val="0"/>
            <c:spPr>
              <a:solidFill>
                <a:srgbClr val="26C28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Onsite</c:v>
                </c:pt>
                <c:pt idx="1">
                  <c:v>Remote</c:v>
                </c:pt>
                <c:pt idx="2">
                  <c:v>Hybrid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33.6</c:v>
                </c:pt>
                <c:pt idx="1">
                  <c:v>33.3</c:v>
                </c:pt>
                <c:pt idx="2">
                  <c:v>33.1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BBCCDD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FFB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B3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6C2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4D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Startup</c:v>
                  </c:pt>
                  <c:pt idx="1">
                    <c:v>Small</c:v>
                  </c:pt>
                  <c:pt idx="2">
                    <c:v>Medium</c:v>
                  </c:pt>
                  <c:pt idx="3">
                    <c:v>Large</c:v>
                  </c:pt>
                  <c:pt idx="4">
                    <c:v>Enterprise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96544</c:v>
                </c:pt>
                <c:pt idx="1">
                  <c:v>96391</c:v>
                </c:pt>
                <c:pt idx="2">
                  <c:v>97323</c:v>
                </c:pt>
                <c:pt idx="3">
                  <c:v>96144</c:v>
                </c:pt>
                <c:pt idx="4">
                  <c:v>96309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BCC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E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AC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4D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6C28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B30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Bootcamp</c:v>
                  </c:pt>
                  <c:pt idx="1">
                    <c:v>Bachelor</c:v>
                  </c:pt>
                  <c:pt idx="2">
                    <c:v>Diploma</c:v>
                  </c:pt>
                  <c:pt idx="3">
                    <c:v>PhD</c:v>
                  </c:pt>
                  <c:pt idx="4">
                    <c:v>Master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97206</c:v>
                </c:pt>
                <c:pt idx="1">
                  <c:v>97026</c:v>
                </c:pt>
                <c:pt idx="2">
                  <c:v>96283</c:v>
                </c:pt>
                <c:pt idx="3">
                  <c:v>96131</c:v>
                </c:pt>
                <c:pt idx="4">
                  <c:v>96075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BCC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E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FFB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B3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AC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4D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6C28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Research Scientist</c:v>
                  </c:pt>
                  <c:pt idx="1">
                    <c:v>ML Engineer</c:v>
                  </c:pt>
                  <c:pt idx="2">
                    <c:v>NLP Engineer</c:v>
                  </c:pt>
                  <c:pt idx="3">
                    <c:v>CV Engineer</c:v>
                  </c:pt>
                  <c:pt idx="4">
                    <c:v>AI Engineer</c:v>
                  </c:pt>
                  <c:pt idx="5">
                    <c:v>Data Scientist</c:v>
                  </c:pt>
                  <c:pt idx="6">
                    <c:v>SW Engineer AI</c:v>
                  </c:pt>
                  <c:pt idx="7">
                    <c:v>Data Analyst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109798</c:v>
                </c:pt>
                <c:pt idx="1">
                  <c:v>102122</c:v>
                </c:pt>
                <c:pt idx="2">
                  <c:v>99745</c:v>
                </c:pt>
                <c:pt idx="3">
                  <c:v>101304</c:v>
                </c:pt>
                <c:pt idx="4">
                  <c:v>97975</c:v>
                </c:pt>
                <c:pt idx="5">
                  <c:v>94030</c:v>
                </c:pt>
                <c:pt idx="6">
                  <c:v>97376</c:v>
                </c:pt>
                <c:pt idx="7">
                  <c:v>69429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BCC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2E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 USD</c:v>
                </c:pt>
              </c:strCache>
            </c:strRef>
          </c:tx>
          <c:spPr>
            <a:solidFill>
              <a:srgbClr val="00D4FF"/>
            </a:solidFill>
            <a:ln w="38100" cap="flat">
              <a:solidFill>
                <a:srgbClr val="00D4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D4FF"/>
              </a:solidFill>
              <a:ln w="9525" cap="flat">
                <a:solidFill>
                  <a:srgbClr val="00D4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96890</c:v>
                </c:pt>
                <c:pt idx="1">
                  <c:v>96683</c:v>
                </c:pt>
                <c:pt idx="2">
                  <c:v>96227</c:v>
                </c:pt>
                <c:pt idx="3">
                  <c:v>96483</c:v>
                </c:pt>
                <c:pt idx="4">
                  <c:v>96293</c:v>
                </c:pt>
                <c:pt idx="5">
                  <c:v>96587</c:v>
                </c:pt>
                <c:pt idx="6">
                  <c:v>96659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BCC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00"/>
          <c:min val="90000"/>
        </c:scaling>
        <c:delete val="0"/>
        <c:axPos val="l"/>
        <c:majorGridlines>
          <c:spPr>
            <a:ln w="6350" cap="flat">
              <a:solidFill>
                <a:srgbClr val="1A2E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Components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D4FF"/>
              </a:solidFill>
              <a:effectLst/>
            </c:spPr>
          </c:dPt>
          <c:dPt>
            <c:idx val="1"/>
            <c:bubble3D val="0"/>
            <c:spPr>
              <a:solidFill>
                <a:srgbClr val="FFB3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Base Salary</c:v>
                </c:pt>
                <c:pt idx="1">
                  <c:v>Bonus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96546</c:v>
                </c:pt>
                <c:pt idx="1">
                  <c:v>12989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BBCCDD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Salary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AC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77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556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334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USA</c:v>
                  </c:pt>
                  <c:pt idx="1">
                    <c:v>Singapore</c:v>
                  </c:pt>
                  <c:pt idx="2">
                    <c:v>Australia</c:v>
                  </c:pt>
                  <c:pt idx="3">
                    <c:v>Canada</c:v>
                  </c:pt>
                  <c:pt idx="4">
                    <c:v>UK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132995</c:v>
                </c:pt>
                <c:pt idx="1">
                  <c:v>116955</c:v>
                </c:pt>
                <c:pt idx="2">
                  <c:v>110550</c:v>
                </c:pt>
                <c:pt idx="3">
                  <c:v>108671</c:v>
                </c:pt>
                <c:pt idx="4">
                  <c:v>102826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BCC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E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5350"/>
              </a:solidFill>
              <a:effectLst/>
            </c:spPr>
          </c:dPt>
          <c:dPt>
            <c:idx val="1"/>
            <c:bubble3D val="0"/>
            <c:spPr>
              <a:solidFill>
                <a:srgbClr val="FFB300"/>
              </a:solidFill>
              <a:effectLst/>
            </c:spPr>
          </c:dPt>
          <c:dPt>
            <c:idx val="2"/>
            <c:bubble3D val="0"/>
            <c:spPr>
              <a:solidFill>
                <a:srgbClr val="26C28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High Risk</c:v>
                </c:pt>
                <c:pt idx="1">
                  <c:v>Medium Risk</c:v>
                </c:pt>
                <c:pt idx="2">
                  <c:v>Low Risk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39.9</c:v>
                </c:pt>
                <c:pt idx="1">
                  <c:v>30</c:v>
                </c:pt>
                <c:pt idx="2">
                  <c:v>30.1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BBCCDD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Automation Risk</c:v>
                </c:pt>
              </c:strCache>
            </c:strRef>
          </c:tx>
          <c:spPr>
            <a:solidFill>
              <a:srgbClr val="EF53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CV Engineer</c:v>
                  </c:pt>
                  <c:pt idx="1">
                    <c:v>SW Eng AI</c:v>
                  </c:pt>
                  <c:pt idx="2">
                    <c:v>Research Sci</c:v>
                  </c:pt>
                  <c:pt idx="3">
                    <c:v>Data Analyst</c:v>
                  </c:pt>
                  <c:pt idx="4">
                    <c:v>Data Scientist</c:v>
                  </c:pt>
                  <c:pt idx="5">
                    <c:v>NLP Engineer</c:v>
                  </c:pt>
                  <c:pt idx="6">
                    <c:v>ML Engineer</c:v>
                  </c:pt>
                  <c:pt idx="7">
                    <c:v>AI Engineer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50.6</c:v>
                </c:pt>
                <c:pt idx="1">
                  <c:v>50.6</c:v>
                </c:pt>
                <c:pt idx="2">
                  <c:v>50.6</c:v>
                </c:pt>
                <c:pt idx="3">
                  <c:v>50.3</c:v>
                </c:pt>
                <c:pt idx="4">
                  <c:v>50.2</c:v>
                </c:pt>
                <c:pt idx="5">
                  <c:v>50.2</c:v>
                </c:pt>
                <c:pt idx="6">
                  <c:v>50.2</c:v>
                </c:pt>
                <c:pt idx="7">
                  <c:v>50.1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Job Security</c:v>
                </c:pt>
              </c:strCache>
            </c:strRef>
          </c:tx>
          <c:spPr>
            <a:solidFill>
              <a:srgbClr val="26C2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CV Engineer</c:v>
                  </c:pt>
                  <c:pt idx="1">
                    <c:v>SW Eng AI</c:v>
                  </c:pt>
                  <c:pt idx="2">
                    <c:v>Research Sci</c:v>
                  </c:pt>
                  <c:pt idx="3">
                    <c:v>Data Analyst</c:v>
                  </c:pt>
                  <c:pt idx="4">
                    <c:v>Data Scientist</c:v>
                  </c:pt>
                  <c:pt idx="5">
                    <c:v>NLP Engineer</c:v>
                  </c:pt>
                  <c:pt idx="6">
                    <c:v>ML Engineer</c:v>
                  </c:pt>
                  <c:pt idx="7">
                    <c:v>AI Engineer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75.7</c:v>
                </c:pt>
                <c:pt idx="1">
                  <c:v>75.6</c:v>
                </c:pt>
                <c:pt idx="2">
                  <c:v>75.7</c:v>
                </c:pt>
                <c:pt idx="3">
                  <c:v>75.6</c:v>
                </c:pt>
                <c:pt idx="4">
                  <c:v>75.5</c:v>
                </c:pt>
                <c:pt idx="5">
                  <c:v>75.6</c:v>
                </c:pt>
                <c:pt idx="6">
                  <c:v>75.6</c:v>
                </c:pt>
                <c:pt idx="7">
                  <c:v>75.6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BBCC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2E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BBCCDD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Safety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BE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AC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9AA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889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778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667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556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0445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03344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Consulting</c:v>
                  </c:pt>
                  <c:pt idx="1">
                    <c:v>Retail</c:v>
                  </c:pt>
                  <c:pt idx="2">
                    <c:v>Tech</c:v>
                  </c:pt>
                  <c:pt idx="3">
                    <c:v>Education</c:v>
                  </c:pt>
                  <c:pt idx="4">
                    <c:v>Energy</c:v>
                  </c:pt>
                  <c:pt idx="5">
                    <c:v>Finance</c:v>
                  </c:pt>
                  <c:pt idx="6">
                    <c:v>Telecom</c:v>
                  </c:pt>
                  <c:pt idx="7">
                    <c:v>Automotive</c:v>
                  </c:pt>
                  <c:pt idx="8">
                    <c:v>Gaming</c:v>
                  </c:pt>
                  <c:pt idx="9">
                    <c:v>Healthcare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25.7</c:v>
                </c:pt>
                <c:pt idx="1">
                  <c:v>25.4</c:v>
                </c:pt>
                <c:pt idx="2">
                  <c:v>25.3</c:v>
                </c:pt>
                <c:pt idx="3">
                  <c:v>25.2</c:v>
                </c:pt>
                <c:pt idx="4">
                  <c:v>25.2</c:v>
                </c:pt>
                <c:pt idx="5">
                  <c:v>25.1</c:v>
                </c:pt>
                <c:pt idx="6">
                  <c:v>25.1</c:v>
                </c:pt>
                <c:pt idx="7">
                  <c:v>25</c:v>
                </c:pt>
                <c:pt idx="8">
                  <c:v>25</c:v>
                </c:pt>
                <c:pt idx="9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BCC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"/>
          <c:min val="24"/>
        </c:scaling>
        <c:delete val="0"/>
        <c:axPos val="l"/>
        <c:majorGridlines>
          <c:spPr>
            <a:ln w="6350" cap="flat">
              <a:solidFill>
                <a:srgbClr val="1A2E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Research Sci</c:v>
                </c:pt>
              </c:strCache>
            </c:strRef>
          </c:tx>
          <c:spPr>
            <a:solidFill>
              <a:srgbClr val="FFB300"/>
            </a:solidFill>
            <a:ln w="25400" cap="flat">
              <a:solidFill>
                <a:srgbClr val="FFB3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B300"/>
              </a:solidFill>
              <a:ln w="9525" cap="flat">
                <a:solidFill>
                  <a:srgbClr val="FFB300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50.6</c:v>
                </c:pt>
                <c:pt idx="1">
                  <c:v>50.6</c:v>
                </c:pt>
                <c:pt idx="2">
                  <c:v>50.6</c:v>
                </c:pt>
                <c:pt idx="3">
                  <c:v>50.3</c:v>
                </c:pt>
                <c:pt idx="4">
                  <c:v>50.2</c:v>
                </c:pt>
                <c:pt idx="5">
                  <c:v>50.2</c:v>
                </c:pt>
                <c:pt idx="6">
                  <c:v>50.2</c:v>
                </c:pt>
                <c:pt idx="7">
                  <c:v>50.1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75.7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CV Engineer</c:v>
                </c:pt>
              </c:strCache>
            </c:strRef>
          </c:tx>
          <c:spPr>
            <a:solidFill>
              <a:srgbClr val="EF5350"/>
            </a:solidFill>
            <a:ln w="25400" cap="flat">
              <a:solidFill>
                <a:srgbClr val="EF535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5350"/>
              </a:solidFill>
              <a:ln w="9525" cap="flat">
                <a:solidFill>
                  <a:srgbClr val="EF5350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50.6</c:v>
                </c:pt>
                <c:pt idx="1">
                  <c:v>50.6</c:v>
                </c:pt>
                <c:pt idx="2">
                  <c:v>50.6</c:v>
                </c:pt>
                <c:pt idx="3">
                  <c:v>50.3</c:v>
                </c:pt>
                <c:pt idx="4">
                  <c:v>50.2</c:v>
                </c:pt>
                <c:pt idx="5">
                  <c:v>50.2</c:v>
                </c:pt>
                <c:pt idx="6">
                  <c:v>50.2</c:v>
                </c:pt>
                <c:pt idx="7">
                  <c:v>50.1</c:v>
                </c:pt>
              </c:numCache>
            </c:numRef>
          </c:xVal>
          <c:y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75.7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SW Eng AI</c:v>
                </c:pt>
              </c:strCache>
            </c:strRef>
          </c:tx>
          <c:spPr>
            <a:solidFill>
              <a:srgbClr val="00D4FF"/>
            </a:solidFill>
            <a:ln w="25400" cap="flat">
              <a:solidFill>
                <a:srgbClr val="00D4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D4FF"/>
              </a:solidFill>
              <a:ln w="9525" cap="flat">
                <a:solidFill>
                  <a:srgbClr val="00D4FF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50.6</c:v>
                </c:pt>
                <c:pt idx="1">
                  <c:v>50.6</c:v>
                </c:pt>
                <c:pt idx="2">
                  <c:v>50.6</c:v>
                </c:pt>
                <c:pt idx="3">
                  <c:v>50.3</c:v>
                </c:pt>
                <c:pt idx="4">
                  <c:v>50.2</c:v>
                </c:pt>
                <c:pt idx="5">
                  <c:v>50.2</c:v>
                </c:pt>
                <c:pt idx="6">
                  <c:v>50.2</c:v>
                </c:pt>
                <c:pt idx="7">
                  <c:v>50.1</c:v>
                </c:pt>
              </c:numCache>
            </c:numRef>
          </c:xVal>
          <c:y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75.6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 Analyst</c:v>
                </c:pt>
              </c:strCache>
            </c:strRef>
          </c:tx>
          <c:spPr>
            <a:solidFill>
              <a:srgbClr val="26C281"/>
            </a:solidFill>
            <a:ln w="25400" cap="flat">
              <a:solidFill>
                <a:srgbClr val="26C2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6C281"/>
              </a:solidFill>
              <a:ln w="9525" cap="flat">
                <a:solidFill>
                  <a:srgbClr val="26C281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50.6</c:v>
                </c:pt>
                <c:pt idx="1">
                  <c:v>50.6</c:v>
                </c:pt>
                <c:pt idx="2">
                  <c:v>50.6</c:v>
                </c:pt>
                <c:pt idx="3">
                  <c:v>50.3</c:v>
                </c:pt>
                <c:pt idx="4">
                  <c:v>50.2</c:v>
                </c:pt>
                <c:pt idx="5">
                  <c:v>50.2</c:v>
                </c:pt>
                <c:pt idx="6">
                  <c:v>50.2</c:v>
                </c:pt>
                <c:pt idx="7">
                  <c:v>50.1</c:v>
                </c:pt>
              </c:numCache>
            </c:numRef>
          </c:xVal>
          <c:yVal>
            <c:numRef>
              <c:f>Sheet1!$E$2:$E$9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75.6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Data Scientist</c:v>
                </c:pt>
              </c:strCache>
            </c:strRef>
          </c:tx>
          <c:spPr>
            <a:solidFill>
              <a:srgbClr val="7C4DFF"/>
            </a:solidFill>
            <a:ln w="25400" cap="flat">
              <a:solidFill>
                <a:srgbClr val="7C4D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C4DFF"/>
              </a:solidFill>
              <a:ln w="9525" cap="flat">
                <a:solidFill>
                  <a:srgbClr val="7C4DFF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50.6</c:v>
                </c:pt>
                <c:pt idx="1">
                  <c:v>50.6</c:v>
                </c:pt>
                <c:pt idx="2">
                  <c:v>50.6</c:v>
                </c:pt>
                <c:pt idx="3">
                  <c:v>50.3</c:v>
                </c:pt>
                <c:pt idx="4">
                  <c:v>50.2</c:v>
                </c:pt>
                <c:pt idx="5">
                  <c:v>50.2</c:v>
                </c:pt>
                <c:pt idx="6">
                  <c:v>50.2</c:v>
                </c:pt>
                <c:pt idx="7">
                  <c:v>50.1</c:v>
                </c:pt>
              </c:numCache>
            </c:numRef>
          </c:xVal>
          <c:yVal>
            <c:numRef>
              <c:f>Sheet1!$F$2:$F$9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75.5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52"/>
          <c:min val="48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BCC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77"/>
          <c:min val="74"/>
        </c:scaling>
        <c:delete val="0"/>
        <c:axPos val="l"/>
        <c:majorGridlines>
          <c:spPr>
            <a:ln w="6350" cap="flat">
              <a:solidFill>
                <a:srgbClr val="1A2E4A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BBCCDD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 Score</c:v>
                </c:pt>
              </c:strCache>
            </c:strRef>
          </c:tx>
          <c:spPr>
            <a:solidFill>
              <a:srgbClr val="26C2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6C2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4D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B3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AAC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6C28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AI Engineer</c:v>
                  </c:pt>
                  <c:pt idx="1">
                    <c:v>CV Engineer</c:v>
                  </c:pt>
                  <c:pt idx="2">
                    <c:v>Research Sci</c:v>
                  </c:pt>
                  <c:pt idx="3">
                    <c:v>NLP Engineer</c:v>
                  </c:pt>
                  <c:pt idx="4">
                    <c:v>Data Scientist</c:v>
                  </c:pt>
                  <c:pt idx="5">
                    <c:v>Data Analyst</c:v>
                  </c:pt>
                  <c:pt idx="6">
                    <c:v>SW Eng AI</c:v>
                  </c:pt>
                  <c:pt idx="7">
                    <c:v>ML Engineer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57.3</c:v>
                </c:pt>
                <c:pt idx="1">
                  <c:v>57.3</c:v>
                </c:pt>
                <c:pt idx="2">
                  <c:v>57.3</c:v>
                </c:pt>
                <c:pt idx="3">
                  <c:v>57.3</c:v>
                </c:pt>
                <c:pt idx="4">
                  <c:v>57.2</c:v>
                </c:pt>
                <c:pt idx="5">
                  <c:v>57.2</c:v>
                </c:pt>
                <c:pt idx="6">
                  <c:v>57.1</c:v>
                </c:pt>
                <c:pt idx="7">
                  <c:v>56.9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BCC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8.5"/>
          <c:min val="55"/>
        </c:scaling>
        <c:delete val="0"/>
        <c:axPos val="b"/>
        <c:majorGridlines>
          <c:spPr>
            <a:ln w="6350" cap="flat">
              <a:solidFill>
                <a:srgbClr val="1A2E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Hiring Difficulty</c:v>
                </c:pt>
              </c:strCache>
            </c:strRef>
          </c:tx>
          <c:spPr>
            <a:solidFill>
              <a:srgbClr val="FFB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B3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B3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B3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B3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B3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B3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FB30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FB300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ML Engineer</c:v>
                  </c:pt>
                  <c:pt idx="1">
                    <c:v>Data Analyst</c:v>
                  </c:pt>
                  <c:pt idx="2">
                    <c:v>NLP Engineer</c:v>
                  </c:pt>
                  <c:pt idx="3">
                    <c:v>Data Sci</c:v>
                  </c:pt>
                  <c:pt idx="4">
                    <c:v>AI Engineer</c:v>
                  </c:pt>
                  <c:pt idx="5">
                    <c:v>Research Sci</c:v>
                  </c:pt>
                  <c:pt idx="6">
                    <c:v>CV Engineer</c:v>
                  </c:pt>
                  <c:pt idx="7">
                    <c:v>SW Eng AI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55.1</c:v>
                </c:pt>
                <c:pt idx="1">
                  <c:v>55.1</c:v>
                </c:pt>
                <c:pt idx="2">
                  <c:v>55.1</c:v>
                </c:pt>
                <c:pt idx="3">
                  <c:v>55</c:v>
                </c:pt>
                <c:pt idx="4">
                  <c:v>55</c:v>
                </c:pt>
                <c:pt idx="5">
                  <c:v>55</c:v>
                </c:pt>
                <c:pt idx="6">
                  <c:v>55</c:v>
                </c:pt>
                <c:pt idx="7">
                  <c:v>54.9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BCC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"/>
          <c:min val="54"/>
        </c:scaling>
        <c:delete val="0"/>
        <c:axPos val="l"/>
        <c:majorGridlines>
          <c:spPr>
            <a:ln w="6350" cap="flat">
              <a:solidFill>
                <a:srgbClr val="1A2E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Experience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5350"/>
              </a:solidFill>
              <a:effectLst/>
            </c:spPr>
          </c:dPt>
          <c:dPt>
            <c:idx val="1"/>
            <c:bubble3D val="0"/>
            <c:spPr>
              <a:solidFill>
                <a:srgbClr val="FFB300"/>
              </a:solidFill>
              <a:effectLst/>
            </c:spPr>
          </c:dPt>
          <c:dPt>
            <c:idx val="2"/>
            <c:bubble3D val="0"/>
            <c:spPr>
              <a:solidFill>
                <a:srgbClr val="00D4FF"/>
              </a:solidFill>
              <a:effectLst/>
            </c:spPr>
          </c:dPt>
          <c:dPt>
            <c:idx val="3"/>
            <c:bubble3D val="0"/>
            <c:spPr>
              <a:solidFill>
                <a:srgbClr val="26C28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Entry</c:v>
                </c:pt>
                <c:pt idx="1">
                  <c:v>Mid</c:v>
                </c:pt>
                <c:pt idx="2">
                  <c:v>Senior</c:v>
                </c:pt>
                <c:pt idx="3">
                  <c:v>Lead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24.8</c:v>
                </c:pt>
                <c:pt idx="1">
                  <c:v>24.9</c:v>
                </c:pt>
                <c:pt idx="2">
                  <c:v>25.2</c:v>
                </c:pt>
                <c:pt idx="3">
                  <c:v>25.1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BBCCDD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7C4D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4D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6C28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B30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Bootcamp</c:v>
                  </c:pt>
                  <c:pt idx="1">
                    <c:v>PhD</c:v>
                  </c:pt>
                  <c:pt idx="2">
                    <c:v>Bachelor</c:v>
                  </c:pt>
                  <c:pt idx="3">
                    <c:v>Diploma</c:v>
                  </c:pt>
                  <c:pt idx="4">
                    <c:v>Master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18148</c:v>
                </c:pt>
                <c:pt idx="1">
                  <c:v>18070</c:v>
                </c:pt>
                <c:pt idx="2">
                  <c:v>18005</c:v>
                </c:pt>
                <c:pt idx="3">
                  <c:v>17914</c:v>
                </c:pt>
                <c:pt idx="4">
                  <c:v>17863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BCC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E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00D4FF"/>
            </a:solidFill>
            <a:ln w="38100" cap="flat">
              <a:solidFill>
                <a:srgbClr val="00D4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D4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D4FF"/>
              </a:solidFill>
              <a:ln w="9525" cap="flat">
                <a:solidFill>
                  <a:srgbClr val="00D4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Entry</c:v>
                  </c:pt>
                  <c:pt idx="1">
                    <c:v>Mid</c:v>
                  </c:pt>
                  <c:pt idx="2">
                    <c:v>Senior</c:v>
                  </c:pt>
                  <c:pt idx="3">
                    <c:v>Lead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61328</c:v>
                </c:pt>
                <c:pt idx="1">
                  <c:v>77412</c:v>
                </c:pt>
                <c:pt idx="2">
                  <c:v>104608</c:v>
                </c:pt>
                <c:pt idx="3">
                  <c:v>142319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D4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BCC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E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Satisfaction</c:v>
                </c:pt>
              </c:strCache>
            </c:strRef>
          </c:tx>
          <c:spPr>
            <a:solidFill>
              <a:srgbClr val="26C2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6C2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AC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4D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B3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6C28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FB30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Retail</c:v>
                  </c:pt>
                  <c:pt idx="1">
                    <c:v>Tech</c:v>
                  </c:pt>
                  <c:pt idx="2">
                    <c:v>Automotive</c:v>
                  </c:pt>
                  <c:pt idx="3">
                    <c:v>Consulting</c:v>
                  </c:pt>
                  <c:pt idx="4">
                    <c:v>Healthcare</c:v>
                  </c:pt>
                  <c:pt idx="5">
                    <c:v>Gaming</c:v>
                  </c:pt>
                  <c:pt idx="6">
                    <c:v>Finance</c:v>
                  </c:pt>
                  <c:pt idx="7">
                    <c:v>Telecom</c:v>
                  </c:pt>
                  <c:pt idx="8">
                    <c:v>Education</c:v>
                  </c:pt>
                  <c:pt idx="9">
                    <c:v>Energy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72.8</c:v>
                </c:pt>
                <c:pt idx="1">
                  <c:v>72.8</c:v>
                </c:pt>
                <c:pt idx="2">
                  <c:v>72.7</c:v>
                </c:pt>
                <c:pt idx="3">
                  <c:v>72.7</c:v>
                </c:pt>
                <c:pt idx="4">
                  <c:v>72.7</c:v>
                </c:pt>
                <c:pt idx="5">
                  <c:v>72.7</c:v>
                </c:pt>
                <c:pt idx="6">
                  <c:v>72.7</c:v>
                </c:pt>
                <c:pt idx="7">
                  <c:v>72.7</c:v>
                </c:pt>
                <c:pt idx="8">
                  <c:v>72.7</c:v>
                </c:pt>
                <c:pt idx="9">
                  <c:v>72.7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BCC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3.2"/>
          <c:min val="72"/>
        </c:scaling>
        <c:delete val="0"/>
        <c:axPos val="b"/>
        <c:majorGridlines>
          <c:spPr>
            <a:ln w="6350" cap="flat">
              <a:solidFill>
                <a:srgbClr val="1A2E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WLB Score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6C28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Onsite</c:v>
                  </c:pt>
                  <c:pt idx="1">
                    <c:v>Remote</c:v>
                  </c:pt>
                  <c:pt idx="2">
                    <c:v>Hybrid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69.2</c:v>
                </c:pt>
                <c:pt idx="1">
                  <c:v>69.2</c:v>
                </c:pt>
                <c:pt idx="2">
                  <c:v>69.1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BCC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68"/>
        </c:scaling>
        <c:delete val="0"/>
        <c:axPos val="l"/>
        <c:majorGridlines>
          <c:spPr>
            <a:ln w="6350" cap="flat">
              <a:solidFill>
                <a:srgbClr val="1A2E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Offer Acceptance %</c:v>
                </c:pt>
              </c:strCache>
            </c:strRef>
          </c:tx>
          <c:spPr>
            <a:solidFill>
              <a:srgbClr val="EF53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B3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AC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6C28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Entry</c:v>
                  </c:pt>
                  <c:pt idx="1">
                    <c:v>Mid</c:v>
                  </c:pt>
                  <c:pt idx="2">
                    <c:v>Senior</c:v>
                  </c:pt>
                  <c:pt idx="3">
                    <c:v>Lead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75.1</c:v>
                </c:pt>
                <c:pt idx="1">
                  <c:v>75</c:v>
                </c:pt>
                <c:pt idx="2">
                  <c:v>75</c:v>
                </c:pt>
                <c:pt idx="3">
                  <c:v>74.9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BCC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6"/>
          <c:min val="74"/>
        </c:scaling>
        <c:delete val="0"/>
        <c:axPos val="l"/>
        <c:majorGridlines>
          <c:spPr>
            <a:ln w="6350" cap="flat">
              <a:solidFill>
                <a:srgbClr val="1A2E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0D4FF"/>
            </a:solidFill>
            <a:ln w="25400" cap="flat">
              <a:solidFill>
                <a:srgbClr val="00D4FF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00D4FF"/>
              </a:solidFill>
              <a:ln w="9525" cap="flat">
                <a:solidFill>
                  <a:srgbClr val="00D4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Job Security (75.6)</c:v>
                  </c:pt>
                  <c:pt idx="1">
                    <c:v>WLB (69.1)</c:v>
                  </c:pt>
                  <c:pt idx="2">
                    <c:v>Employee Sat. (72.7)</c:v>
                  </c:pt>
                  <c:pt idx="3">
                    <c:v>Career Growth (57.2)</c:v>
                  </c:pt>
                  <c:pt idx="4">
                    <c:v>Offer Accept. (75.0)</c:v>
                  </c:pt>
                  <c:pt idx="5">
                    <c:v>Promotion (38.4)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75.6</c:v>
                </c:pt>
                <c:pt idx="1">
                  <c:v>69.1</c:v>
                </c:pt>
                <c:pt idx="2">
                  <c:v>72.7</c:v>
                </c:pt>
                <c:pt idx="3">
                  <c:v>57.2</c:v>
                </c:pt>
                <c:pt idx="4">
                  <c:v>75</c:v>
                </c:pt>
                <c:pt idx="5">
                  <c:v>38.4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BCC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Satisfaction Score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Startup</c:v>
                  </c:pt>
                  <c:pt idx="1">
                    <c:v>Small</c:v>
                  </c:pt>
                  <c:pt idx="2">
                    <c:v>Medium</c:v>
                  </c:pt>
                  <c:pt idx="3">
                    <c:v>Large</c:v>
                  </c:pt>
                  <c:pt idx="4">
                    <c:v>Enterprise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72.7</c:v>
                </c:pt>
                <c:pt idx="1">
                  <c:v>72.7</c:v>
                </c:pt>
                <c:pt idx="2">
                  <c:v>72.8</c:v>
                </c:pt>
                <c:pt idx="3">
                  <c:v>72.6</c:v>
                </c:pt>
                <c:pt idx="4">
                  <c:v>72.6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BCC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3.2"/>
          <c:min val="72"/>
        </c:scaling>
        <c:delete val="0"/>
        <c:axPos val="l"/>
        <c:majorGridlines>
          <c:spPr>
            <a:ln w="6350" cap="flat">
              <a:solidFill>
                <a:srgbClr val="1A2E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Overview: 90,000 records spanning 12 countries. USA leads salary at $133K avg. Remote vs onsite vs hybrid are nearly evenly split. Experience dramatically impacts salary — Lead roles earn 2.3x Entry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Salary Intelligence: Research Scientists command the highest salary at $109.8K. AI salaries have remained stable 2020-2026, reflecting consistent demand. The USA pays 3x more than India for the same AI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Automation Risk: All AI roles cluster around 50 risk score — indicating moderate displacement risk. However, job security remains high at 75+ across all roles. The Net Safety Index (Security - Risk) averages 25 pts positive across all industries.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Career Growth: Growth scores are remarkably consistent across roles (56.9–57.3), suggesting the entire AI sector is in expansion. The salary ladder is steep — Lead earns 2.3x Entry. Hiring difficulty is uniform at 55, reflecting strong but attainable competition.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Environment: Satisfaction is remarkably consistent across industries (72.7–72.8) and work modes, suggesting the AI industry has developed a stable work culture. Remote, hybrid and onsite roles deliver near-identical WLB scores, challenging assumptions about remote work advantages.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chart" Target="/ppt/charts/chart8.xml"/><Relationship Id="rId4" Type="http://schemas.openxmlformats.org/officeDocument/2006/relationships/chart" Target="/ppt/charts/chart9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chart" Target="/ppt/charts/chart11.xml"/><Relationship Id="rId3" Type="http://schemas.openxmlformats.org/officeDocument/2006/relationships/chart" Target="/ppt/charts/chart12.xml"/><Relationship Id="rId4" Type="http://schemas.openxmlformats.org/officeDocument/2006/relationships/chart" Target="/ppt/charts/chart13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chart" Target="/ppt/charts/chart15.xml"/><Relationship Id="rId3" Type="http://schemas.openxmlformats.org/officeDocument/2006/relationships/chart" Target="/ppt/charts/chart16.xml"/><Relationship Id="rId4" Type="http://schemas.openxmlformats.org/officeDocument/2006/relationships/chart" Target="/ppt/charts/chart17.xml"/><Relationship Id="rId5" Type="http://schemas.openxmlformats.org/officeDocument/2006/relationships/chart" Target="/ppt/charts/chart18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chart" Target="/ppt/charts/chart20.xml"/><Relationship Id="rId3" Type="http://schemas.openxmlformats.org/officeDocument/2006/relationships/chart" Target="/ppt/charts/chart21.xml"/><Relationship Id="rId4" Type="http://schemas.openxmlformats.org/officeDocument/2006/relationships/chart" Target="/ppt/charts/chart22.xml"/><Relationship Id="rId5" Type="http://schemas.openxmlformats.org/officeDocument/2006/relationships/chart" Target="/ppt/charts/chart23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A35"/>
          </a:solidFill>
          <a:ln w="12700">
            <a:solidFill>
              <a:srgbClr val="050E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01168"/>
            <a:ext cx="292608" cy="475488"/>
          </a:xfrm>
          <a:prstGeom prst="roundRect">
            <a:avLst>
              <a:gd name="adj" fmla="val 18750"/>
            </a:avLst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01168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0E1F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1792" y="54864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</a:rPr>
              <a:t>MARKET OVERVIEW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1792" y="49377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Global snapshot of the AI job market — size, reach &amp; compensation landscape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2926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8899AA"/>
                </a:solidFill>
              </a:rPr>
              <a:t>THE AI ERA  •  AI JOBS INTELLIGENCE REPORT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00D4FF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90,000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Job Records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2860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Full dataset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19456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26C281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19456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C281"/>
                </a:solidFill>
              </a:rPr>
              <a:t>$96,546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19456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Avg AI Salary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USD per year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16052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5196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00AACC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16052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ACC"/>
                </a:solidFill>
              </a:rPr>
              <a:t>$109,575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16052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Avg Total Comp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6052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Salary + bonus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12648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7C4DFF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4DFF"/>
                </a:solidFill>
              </a:rPr>
              <a:t>12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2648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Countries Covered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2648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Global footprint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09244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8388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FFB300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09244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</a:rPr>
              <a:t>1.58M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09244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Job Openings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09244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Active listings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005840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14984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00897B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005840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897B"/>
                </a:solidFill>
              </a:rPr>
              <a:t>33.3%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005840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Remote Work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05840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of all positions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28600" y="21762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</a:rPr>
              <a:t>AVERAGE SALARY BY COUNTRY  (USD)</a:t>
            </a:r>
            <a:endParaRPr lang="en-US" sz="900" dirty="0"/>
          </a:p>
        </p:txBody>
      </p:sp>
      <p:graphicFrame>
        <p:nvGraphicFramePr>
          <p:cNvPr id="39" name="Chart 0" descr=""/>
          <p:cNvGraphicFramePr/>
          <p:nvPr/>
        </p:nvGraphicFramePr>
        <p:xfrm>
          <a:off x="228600" y="2450592"/>
          <a:ext cx="55778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0" name="Text 37"/>
          <p:cNvSpPr/>
          <p:nvPr/>
        </p:nvSpPr>
        <p:spPr>
          <a:xfrm>
            <a:off x="6035040" y="21762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</a:rPr>
              <a:t>SALARY BY EXPERIENCE LEVEL</a:t>
            </a:r>
            <a:endParaRPr lang="en-US" sz="900" dirty="0"/>
          </a:p>
        </p:txBody>
      </p:sp>
      <p:graphicFrame>
        <p:nvGraphicFramePr>
          <p:cNvPr id="41" name="Chart 1" descr=""/>
          <p:cNvGraphicFramePr/>
          <p:nvPr/>
        </p:nvGraphicFramePr>
        <p:xfrm>
          <a:off x="6035040" y="2450592"/>
          <a:ext cx="292608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2" name="Text 38"/>
          <p:cNvSpPr/>
          <p:nvPr/>
        </p:nvSpPr>
        <p:spPr>
          <a:xfrm>
            <a:off x="9144000" y="21762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</a:rPr>
              <a:t>WORK MODE SPLIT</a:t>
            </a:r>
            <a:endParaRPr lang="en-US" sz="900" dirty="0"/>
          </a:p>
        </p:txBody>
      </p:sp>
      <p:graphicFrame>
        <p:nvGraphicFramePr>
          <p:cNvPr id="43" name="Chart 2" descr=""/>
          <p:cNvGraphicFramePr/>
          <p:nvPr/>
        </p:nvGraphicFramePr>
        <p:xfrm>
          <a:off x="9144000" y="2450592"/>
          <a:ext cx="278892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4" name="Text 39"/>
          <p:cNvSpPr/>
          <p:nvPr/>
        </p:nvSpPr>
        <p:spPr>
          <a:xfrm>
            <a:off x="6035040" y="4005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</a:rPr>
              <a:t>SALARY BY COMPANY SIZE</a:t>
            </a:r>
            <a:endParaRPr lang="en-US" sz="900" dirty="0"/>
          </a:p>
        </p:txBody>
      </p:sp>
      <p:graphicFrame>
        <p:nvGraphicFramePr>
          <p:cNvPr id="45" name="Chart 3" descr=""/>
          <p:cNvGraphicFramePr/>
          <p:nvPr/>
        </p:nvGraphicFramePr>
        <p:xfrm>
          <a:off x="6035040" y="4279392"/>
          <a:ext cx="292608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6" name="Text 40"/>
          <p:cNvSpPr/>
          <p:nvPr/>
        </p:nvSpPr>
        <p:spPr>
          <a:xfrm>
            <a:off x="9144000" y="4005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</a:rPr>
              <a:t>SALARY BY EDUCATION</a:t>
            </a:r>
            <a:endParaRPr lang="en-US" sz="900" dirty="0"/>
          </a:p>
        </p:txBody>
      </p:sp>
      <p:graphicFrame>
        <p:nvGraphicFramePr>
          <p:cNvPr id="47" name="Chart 4" descr=""/>
          <p:cNvGraphicFramePr/>
          <p:nvPr/>
        </p:nvGraphicFramePr>
        <p:xfrm>
          <a:off x="9144000" y="4279392"/>
          <a:ext cx="278892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A35"/>
          </a:solidFill>
          <a:ln w="12700">
            <a:solidFill>
              <a:srgbClr val="050E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01168"/>
            <a:ext cx="292608" cy="475488"/>
          </a:xfrm>
          <a:prstGeom prst="roundRect">
            <a:avLst>
              <a:gd name="adj" fmla="val 18750"/>
            </a:avLst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01168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0E1F"/>
                </a:solidFill>
              </a:rPr>
              <a:t>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1792" y="54864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</a:rPr>
              <a:t>AI PREMIUM &amp; SALARY INTELLIGENCE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1792" y="49377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How AI specialization drives compensation — role, region &amp; growth trajectory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2926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8899AA"/>
                </a:solidFill>
              </a:rPr>
              <a:t>THE AI ERA  •  AI JOBS INTELLIGENCE REPORT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00D4FF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$96,546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Avg AI Salary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2860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All AI roles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19456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26C281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19456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C281"/>
                </a:solidFill>
              </a:rPr>
              <a:t>$109,575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19456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Avg Total Comp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Incl. bonus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16052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5196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FFB300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16052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</a:rPr>
              <a:t>$109,798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16052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Research Scientist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6052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Highest paid role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12648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00AACC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ACC"/>
                </a:solidFill>
              </a:rPr>
              <a:t>$102,122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2648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ML Engineer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2648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Top engineering role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09244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8388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8899AA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09244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99AA"/>
                </a:solidFill>
              </a:rPr>
              <a:t>$69,429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09244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Data Analyst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09244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Entry AI tier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005840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14984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7C4DFF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005840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4DFF"/>
                </a:solidFill>
              </a:rPr>
              <a:t>75.0%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005840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Offer Acceptance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05840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Market demand signal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28600" y="2148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</a:rPr>
              <a:t>SALARY BY JOB ROLE  (USD)</a:t>
            </a:r>
            <a:endParaRPr lang="en-US" sz="900" dirty="0"/>
          </a:p>
        </p:txBody>
      </p:sp>
      <p:graphicFrame>
        <p:nvGraphicFramePr>
          <p:cNvPr id="39" name="Chart 0" descr=""/>
          <p:cNvGraphicFramePr/>
          <p:nvPr/>
        </p:nvGraphicFramePr>
        <p:xfrm>
          <a:off x="228600" y="2423160"/>
          <a:ext cx="5760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0" name="Text 37"/>
          <p:cNvSpPr/>
          <p:nvPr/>
        </p:nvSpPr>
        <p:spPr>
          <a:xfrm>
            <a:off x="6217920" y="2148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</a:rPr>
              <a:t>SALARY TREND 2020–2026</a:t>
            </a:r>
            <a:endParaRPr lang="en-US" sz="900" dirty="0"/>
          </a:p>
        </p:txBody>
      </p:sp>
      <p:graphicFrame>
        <p:nvGraphicFramePr>
          <p:cNvPr id="41" name="Chart 1" descr=""/>
          <p:cNvGraphicFramePr/>
          <p:nvPr/>
        </p:nvGraphicFramePr>
        <p:xfrm>
          <a:off x="6217920" y="2423160"/>
          <a:ext cx="571500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2" name="Text 38"/>
          <p:cNvSpPr/>
          <p:nvPr/>
        </p:nvSpPr>
        <p:spPr>
          <a:xfrm>
            <a:off x="6217920" y="4160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</a:rPr>
              <a:t>TOTAL COMP COMPONENTS</a:t>
            </a:r>
            <a:endParaRPr lang="en-US" sz="900" dirty="0"/>
          </a:p>
        </p:txBody>
      </p:sp>
      <p:graphicFrame>
        <p:nvGraphicFramePr>
          <p:cNvPr id="43" name="Chart 2" descr=""/>
          <p:cNvGraphicFramePr/>
          <p:nvPr/>
        </p:nvGraphicFramePr>
        <p:xfrm>
          <a:off x="6217920" y="4434840"/>
          <a:ext cx="265176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4" name="Text 39"/>
          <p:cNvSpPr/>
          <p:nvPr/>
        </p:nvSpPr>
        <p:spPr>
          <a:xfrm>
            <a:off x="9052560" y="4160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</a:rPr>
              <a:t>TOP COUNTRIES BY AI SALARY (USD)</a:t>
            </a:r>
            <a:endParaRPr lang="en-US" sz="900" dirty="0"/>
          </a:p>
        </p:txBody>
      </p:sp>
      <p:graphicFrame>
        <p:nvGraphicFramePr>
          <p:cNvPr id="45" name="Chart 3" descr=""/>
          <p:cNvGraphicFramePr/>
          <p:nvPr/>
        </p:nvGraphicFramePr>
        <p:xfrm>
          <a:off x="9052560" y="4434840"/>
          <a:ext cx="288036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A35"/>
          </a:solidFill>
          <a:ln w="12700">
            <a:solidFill>
              <a:srgbClr val="050E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01168"/>
            <a:ext cx="292608" cy="475488"/>
          </a:xfrm>
          <a:prstGeom prst="roundRect">
            <a:avLst>
              <a:gd name="adj" fmla="val 18750"/>
            </a:avLst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01168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0E1F"/>
                </a:solidFill>
              </a:rPr>
              <a:t>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1792" y="54864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</a:rPr>
              <a:t>AUTOMATION RISK RADAR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1792" y="49377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Understanding job displacement risk, security scores &amp; net safety across roles and industries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2926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8899AA"/>
                </a:solidFill>
              </a:rPr>
              <a:t>THE AI ERA  •  AI JOBS INTELLIGENCE REPORT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EF5350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5350"/>
                </a:solidFill>
              </a:rPr>
              <a:t>50.4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Avg Automation Risk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2860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Scale 0–100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19456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26C281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19456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C281"/>
                </a:solidFill>
              </a:rPr>
              <a:t>75.6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19456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Avg Job Security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Scale 0–100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16052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5196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FFB300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16052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</a:rPr>
              <a:t>18%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16052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Avg Layoff Risk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6052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Annual probability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12648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00D4FF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25.2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2648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Net Safety Index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2648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Security – Risk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09244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8388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EF5350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09244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5350"/>
                </a:solidFill>
              </a:rPr>
              <a:t>39.9%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09244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High Risk Roles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09244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of all jobs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005840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14984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26C281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005840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C281"/>
                </a:solidFill>
              </a:rPr>
              <a:t>30.1%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005840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Low Risk Roles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05840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of all jobs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28600" y="2148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</a:rPr>
              <a:t>RISK CATEGORY DISTRIBUTION</a:t>
            </a:r>
            <a:endParaRPr lang="en-US" sz="900" dirty="0"/>
          </a:p>
        </p:txBody>
      </p:sp>
      <p:graphicFrame>
        <p:nvGraphicFramePr>
          <p:cNvPr id="39" name="Chart 0" descr=""/>
          <p:cNvGraphicFramePr/>
          <p:nvPr/>
        </p:nvGraphicFramePr>
        <p:xfrm>
          <a:off x="228600" y="2423160"/>
          <a:ext cx="29260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0" name="Text 37"/>
          <p:cNvSpPr/>
          <p:nvPr/>
        </p:nvSpPr>
        <p:spPr>
          <a:xfrm>
            <a:off x="3337560" y="2148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</a:rPr>
              <a:t>AUTOMATION RISK &amp; JOB SECURITY BY ROLE</a:t>
            </a:r>
            <a:endParaRPr lang="en-US" sz="900" dirty="0"/>
          </a:p>
        </p:txBody>
      </p:sp>
      <p:graphicFrame>
        <p:nvGraphicFramePr>
          <p:cNvPr id="41" name="Chart 1" descr=""/>
          <p:cNvGraphicFramePr/>
          <p:nvPr/>
        </p:nvGraphicFramePr>
        <p:xfrm>
          <a:off x="3337560" y="2423160"/>
          <a:ext cx="493776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2" name="Text 38"/>
          <p:cNvSpPr/>
          <p:nvPr/>
        </p:nvSpPr>
        <p:spPr>
          <a:xfrm>
            <a:off x="8503920" y="2148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</a:rPr>
              <a:t>NET SAFETY SCORE BY INDUSTRY</a:t>
            </a:r>
            <a:endParaRPr lang="en-US" sz="900" dirty="0"/>
          </a:p>
        </p:txBody>
      </p:sp>
      <p:graphicFrame>
        <p:nvGraphicFramePr>
          <p:cNvPr id="43" name="Chart 2" descr=""/>
          <p:cNvGraphicFramePr/>
          <p:nvPr/>
        </p:nvGraphicFramePr>
        <p:xfrm>
          <a:off x="8503920" y="2423160"/>
          <a:ext cx="34290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4" name="Text 39"/>
          <p:cNvSpPr/>
          <p:nvPr/>
        </p:nvSpPr>
        <p:spPr>
          <a:xfrm>
            <a:off x="228600" y="43708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</a:rPr>
              <a:t>RISK PROFILE MATRIX: AUTOMATION RISK VS JOB SECURITY (BY ROLE)</a:t>
            </a:r>
            <a:endParaRPr lang="en-US" sz="900" dirty="0"/>
          </a:p>
        </p:txBody>
      </p:sp>
      <p:graphicFrame>
        <p:nvGraphicFramePr>
          <p:cNvPr id="45" name="Chart 3" descr=""/>
          <p:cNvGraphicFramePr/>
          <p:nvPr/>
        </p:nvGraphicFramePr>
        <p:xfrm>
          <a:off x="228600" y="4645152"/>
          <a:ext cx="117043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A35"/>
          </a:solidFill>
          <a:ln w="12700">
            <a:solidFill>
              <a:srgbClr val="050E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01168"/>
            <a:ext cx="292608" cy="475488"/>
          </a:xfrm>
          <a:prstGeom prst="roundRect">
            <a:avLst>
              <a:gd name="adj" fmla="val 18750"/>
            </a:avLst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01168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0E1F"/>
                </a:solidFill>
              </a:rPr>
              <a:t>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1792" y="54864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</a:rPr>
              <a:t>CAREER GROWTH &amp; ENTRY BARRIERS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1792" y="49377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Growth potential, hiring difficulty, promotion speed &amp; pathways into the AI job market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2926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8899AA"/>
                </a:solidFill>
              </a:rPr>
              <a:t>THE AI ERA  •  AI JOBS INTELLIGENCE REPORT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00D4FF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24.8%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Entry Level Share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2860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of all job roles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19456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FFB300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19456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</a:rPr>
              <a:t>55.0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19456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Avg Hiring Difficulty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Scale 0–100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16052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5196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26C281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16052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C281"/>
                </a:solidFill>
              </a:rPr>
              <a:t>38.4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16052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Avg Promotion Speed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6052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Index scale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12648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7C4DFF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4DFF"/>
                </a:solidFill>
              </a:rPr>
              <a:t>57.3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2648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Top Growth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2648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AI Engineer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09244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8388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00AACC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09244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ACC"/>
                </a:solidFill>
              </a:rPr>
              <a:t>75.0%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09244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Offer Acceptance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09244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Strong demand signal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005840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14984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00897B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005840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897B"/>
                </a:solidFill>
              </a:rPr>
              <a:t>57.3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005840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Career Growth Score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05840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Platform average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28600" y="2148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</a:rPr>
              <a:t>CAREER GROWTH SCORE BY ROLE</a:t>
            </a:r>
            <a:endParaRPr lang="en-US" sz="900" dirty="0"/>
          </a:p>
        </p:txBody>
      </p:sp>
      <p:graphicFrame>
        <p:nvGraphicFramePr>
          <p:cNvPr id="39" name="Chart 0" descr=""/>
          <p:cNvGraphicFramePr/>
          <p:nvPr/>
        </p:nvGraphicFramePr>
        <p:xfrm>
          <a:off x="228600" y="242316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0" name="Text 37"/>
          <p:cNvSpPr/>
          <p:nvPr/>
        </p:nvSpPr>
        <p:spPr>
          <a:xfrm>
            <a:off x="4572000" y="2148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</a:rPr>
              <a:t>HIRING DIFFICULTY SCORE</a:t>
            </a:r>
            <a:endParaRPr lang="en-US" sz="900" dirty="0"/>
          </a:p>
        </p:txBody>
      </p:sp>
      <p:graphicFrame>
        <p:nvGraphicFramePr>
          <p:cNvPr id="41" name="Chart 1" descr=""/>
          <p:cNvGraphicFramePr/>
          <p:nvPr/>
        </p:nvGraphicFramePr>
        <p:xfrm>
          <a:off x="4572000" y="2423160"/>
          <a:ext cx="37490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2" name="Text 38"/>
          <p:cNvSpPr/>
          <p:nvPr/>
        </p:nvSpPr>
        <p:spPr>
          <a:xfrm>
            <a:off x="8503920" y="2148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</a:rPr>
              <a:t>EXPERIENCE LEVEL DISTRIBUTION</a:t>
            </a:r>
            <a:endParaRPr lang="en-US" sz="900" dirty="0"/>
          </a:p>
        </p:txBody>
      </p:sp>
      <p:graphicFrame>
        <p:nvGraphicFramePr>
          <p:cNvPr id="43" name="Chart 2" descr=""/>
          <p:cNvGraphicFramePr/>
          <p:nvPr/>
        </p:nvGraphicFramePr>
        <p:xfrm>
          <a:off x="8503920" y="2423160"/>
          <a:ext cx="3429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4" name="Text 39"/>
          <p:cNvSpPr/>
          <p:nvPr/>
        </p:nvSpPr>
        <p:spPr>
          <a:xfrm>
            <a:off x="22860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</a:rPr>
              <a:t>EDUCATION REQUIREMENT DISTRIBUTION</a:t>
            </a:r>
            <a:endParaRPr lang="en-US" sz="900" dirty="0"/>
          </a:p>
        </p:txBody>
      </p:sp>
      <p:graphicFrame>
        <p:nvGraphicFramePr>
          <p:cNvPr id="45" name="Chart 3" descr=""/>
          <p:cNvGraphicFramePr/>
          <p:nvPr/>
        </p:nvGraphicFramePr>
        <p:xfrm>
          <a:off x="228600" y="5102352"/>
          <a:ext cx="411480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6" name="Text 40"/>
          <p:cNvSpPr/>
          <p:nvPr/>
        </p:nvSpPr>
        <p:spPr>
          <a:xfrm>
            <a:off x="457200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</a:rPr>
              <a:t>SALARY PROGRESSION: ENTRY → LEAD</a:t>
            </a:r>
            <a:endParaRPr lang="en-US" sz="900" dirty="0"/>
          </a:p>
        </p:txBody>
      </p:sp>
      <p:graphicFrame>
        <p:nvGraphicFramePr>
          <p:cNvPr id="47" name="Chart 4" descr=""/>
          <p:cNvGraphicFramePr/>
          <p:nvPr/>
        </p:nvGraphicFramePr>
        <p:xfrm>
          <a:off x="4572000" y="5102352"/>
          <a:ext cx="736092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A35"/>
          </a:solidFill>
          <a:ln w="12700">
            <a:solidFill>
              <a:srgbClr val="050E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01168"/>
            <a:ext cx="292608" cy="475488"/>
          </a:xfrm>
          <a:prstGeom prst="roundRect">
            <a:avLst>
              <a:gd name="adj" fmla="val 18750"/>
            </a:avLst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01168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0E1F"/>
                </a:solidFill>
              </a:rPr>
              <a:t>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1792" y="54864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</a:rPr>
              <a:t>WORK ENVIRONMENT &amp; SATISFACTION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1792" y="49377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Employee wellbeing, work-life balance, remote trends &amp; satisfaction across industries and work modes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2926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8899AA"/>
                </a:solidFill>
              </a:rPr>
              <a:t>THE AI ERA  •  AI JOBS INTELLIGENCE REPORT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26C281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C281"/>
                </a:solidFill>
              </a:rPr>
              <a:t>72.7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Avg Employee Sat.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2860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Scale 0–100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19456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00D4FF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19456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69.1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19456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Avg Work-Life Bal.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Scale 0–100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16052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5196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7C4DFF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16052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4DFF"/>
                </a:solidFill>
              </a:rPr>
              <a:t>75.0%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16052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Offer Acceptance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6052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Talent attraction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12648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00AACC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ACC"/>
                </a:solidFill>
              </a:rPr>
              <a:t>33.3%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2648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Remote Work Share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2648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of all positions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09244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8388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FFB300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09244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</a:rPr>
              <a:t>44.3h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09244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Avg Weekly Hours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09244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Full-time standard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0058400" y="102412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2040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149840" y="1097280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EF5350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005840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5350"/>
                </a:solidFill>
              </a:rPr>
              <a:t>55.0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005840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CCDD"/>
                </a:solidFill>
              </a:rPr>
              <a:t>Demand Pressure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05840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Skill urgency index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28600" y="2148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</a:rPr>
              <a:t>EMPLOYEE SATISFACTION BY INDUSTRY</a:t>
            </a:r>
            <a:endParaRPr lang="en-US" sz="900" dirty="0"/>
          </a:p>
        </p:txBody>
      </p:sp>
      <p:graphicFrame>
        <p:nvGraphicFramePr>
          <p:cNvPr id="39" name="Chart 0" descr=""/>
          <p:cNvGraphicFramePr/>
          <p:nvPr/>
        </p:nvGraphicFramePr>
        <p:xfrm>
          <a:off x="228600" y="2423160"/>
          <a:ext cx="40233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0" name="Text 37"/>
          <p:cNvSpPr/>
          <p:nvPr/>
        </p:nvSpPr>
        <p:spPr>
          <a:xfrm>
            <a:off x="4434840" y="2148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</a:rPr>
              <a:t>WORK-LIFE BALANCE BY WORK MODE</a:t>
            </a:r>
            <a:endParaRPr lang="en-US" sz="900" dirty="0"/>
          </a:p>
        </p:txBody>
      </p:sp>
      <p:graphicFrame>
        <p:nvGraphicFramePr>
          <p:cNvPr id="41" name="Chart 1" descr=""/>
          <p:cNvGraphicFramePr/>
          <p:nvPr/>
        </p:nvGraphicFramePr>
        <p:xfrm>
          <a:off x="4434840" y="2423160"/>
          <a:ext cx="32004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2" name="Text 38"/>
          <p:cNvSpPr/>
          <p:nvPr/>
        </p:nvSpPr>
        <p:spPr>
          <a:xfrm>
            <a:off x="7818120" y="2148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</a:rPr>
              <a:t>OFFER ACCEPTANCE RATE BY EXPERIENCE</a:t>
            </a:r>
            <a:endParaRPr lang="en-US" sz="900" dirty="0"/>
          </a:p>
        </p:txBody>
      </p:sp>
      <p:graphicFrame>
        <p:nvGraphicFramePr>
          <p:cNvPr id="43" name="Chart 2" descr=""/>
          <p:cNvGraphicFramePr/>
          <p:nvPr/>
        </p:nvGraphicFramePr>
        <p:xfrm>
          <a:off x="7818120" y="242316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4" name="Text 39"/>
          <p:cNvSpPr/>
          <p:nvPr/>
        </p:nvSpPr>
        <p:spPr>
          <a:xfrm>
            <a:off x="22860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</a:rPr>
              <a:t>AI JOB MARKET KEY SCORES OVERVIEW</a:t>
            </a:r>
            <a:endParaRPr lang="en-US" sz="900" dirty="0"/>
          </a:p>
        </p:txBody>
      </p:sp>
      <p:graphicFrame>
        <p:nvGraphicFramePr>
          <p:cNvPr id="45" name="Chart 3" descr=""/>
          <p:cNvGraphicFramePr/>
          <p:nvPr/>
        </p:nvGraphicFramePr>
        <p:xfrm>
          <a:off x="228600" y="5074920"/>
          <a:ext cx="475488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6" name="Text 40"/>
          <p:cNvSpPr/>
          <p:nvPr/>
        </p:nvSpPr>
        <p:spPr>
          <a:xfrm>
            <a:off x="521208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</a:rPr>
              <a:t>COMPANY SIZE VS SATISFACTION &amp; SALARY</a:t>
            </a:r>
            <a:endParaRPr lang="en-US" sz="900" dirty="0"/>
          </a:p>
        </p:txBody>
      </p:sp>
      <p:graphicFrame>
        <p:nvGraphicFramePr>
          <p:cNvPr id="47" name="Chart 4" descr=""/>
          <p:cNvGraphicFramePr/>
          <p:nvPr/>
        </p:nvGraphicFramePr>
        <p:xfrm>
          <a:off x="5212080" y="5074920"/>
          <a:ext cx="672084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Era: Jobs, Salaries, Risks &amp; Opportunities</dc:title>
  <dc:subject>PptxGenJS Presentation</dc:subject>
  <dc:creator>AI Jobs Market Intelligence</dc:creator>
  <cp:lastModifiedBy>AI Jobs Market Intelligence</cp:lastModifiedBy>
  <cp:revision>1</cp:revision>
  <dcterms:created xsi:type="dcterms:W3CDTF">2026-06-27T13:05:45Z</dcterms:created>
  <dcterms:modified xsi:type="dcterms:W3CDTF">2026-06-27T13:05:45Z</dcterms:modified>
</cp:coreProperties>
</file>